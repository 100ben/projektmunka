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0000"/>
    <a:srgbClr val="FF5050"/>
    <a:srgbClr val="FB0D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incs stílus, csak rács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044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CE4B36-3AB7-4398-B7BB-852A29BCDA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BD54F16-EA00-4C5D-B84F-CC0CA9818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242C50E-C5E6-48F5-BC63-0F9FBFD5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4CD340-E464-4C1E-9A33-B6451EED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4987C59-5693-4A15-BF3B-1AA8BBEAF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8831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140425-0649-4F53-923D-303B6CC6E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AA68E69-D634-4C0F-BB22-6FC0A5D32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AB0676-EF3F-4755-A8EB-B89FC2FDA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A13309F-F64F-497E-BC2E-858A282EF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3BE92BA-EE1E-481E-ACC9-71E7CE9C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46905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6533F2-F86E-47C6-BDFE-969E158C3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0CDE92-C8CD-4E37-8FC7-BF8383AB7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9577EEE-AA25-41B7-9416-F12CEA91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1DFCA7B-A058-4201-ADD4-D2932DDEA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B255A64-1F8B-4785-BD8C-A0A2CF1E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8319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87AC37-6F9B-4319-A18D-21F604C8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C3FF4D8-F84D-4A89-8BE8-E11ABDACC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C465903-95AF-427D-BDD5-C75B811E88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34469B3-20E8-4525-BEF6-FDC2F6FAC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A8DFEF6-5061-4F55-BCB3-10AF78DF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3C2C84-CB51-4693-A84D-77522D5EE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4329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C2FE9B-C09F-48CB-9DB6-4D592DDAE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14756CE-EC7E-4934-8A40-623FCB1E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1122862-888C-405E-B82D-E5CD9B06E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F1AC4ED-E076-4BB9-9684-4D93121277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4C264FD-7F99-4CEF-8755-9F0C7DBB6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69328410-7E42-4439-A297-0158B44ED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20E9029-76A7-415C-902E-58E80E9D6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AB177FBB-62D5-487B-B5DC-3327EF9E0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788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0C3B61-894A-497E-A796-A2B2CD0EB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8DA7684-06AA-4F2F-82F7-874248FB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DC5261E-7E0C-4F0C-8FC3-FB859BD88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3A1A7D6-53B2-4257-BE30-2E634CF0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9043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D8F0696-1763-4A13-A1A7-62CAAB635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4F8CE79-41DE-4FF6-A5A4-6316EC5B1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0CB4546-E0F7-4226-806A-139A02FE8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220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87A640-CB74-433D-A903-FE402A4CB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A666CA-DAE0-428B-A45B-FD9B1A54D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F49924D-C98C-475C-A409-A3E155FBA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9F53ACA-3D69-43DB-962C-931F9AC11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F85F9C3-6F24-4346-9CB6-B527FF05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BC794B2-AD2F-4BB0-9FF5-72675854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5662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CBD4CD-2210-4942-B113-14AE081AD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82CCB45-01C9-48E9-A753-4AB402D8D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55696B1-7670-4C63-9417-34F9E74FF7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515F88D-92AD-4A86-8934-95C4A2E71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BA36D69-B099-44AC-A20E-68006AA0F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0DBEB26-BC73-41AF-9DCA-A87907FD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2626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013F1E-39B5-4518-9848-FF632779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363A827-5E6D-4843-8A4B-0A6D9905EE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484C10-96C8-4534-BAC6-2E9EFF19C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C8B87AC-C8DF-40FF-9018-922D0CCB8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5F2967C-A29A-4861-B045-D923D4863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2349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43B51AC-4BBC-4846-ABB1-32AA99F112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9877EB-E1E6-4EBF-9CE0-675DA7F2E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83D06F-5FC8-47B9-94EB-119CA7C72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D6F2EE5-1DEC-4049-B539-23DE49DA7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0BA5A96-D2D7-4DF5-B552-F40C31E9D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7683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8EF0BC2F-B715-40A5-9D7F-CC1A9E4A4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282D786-72FD-4870-A6AF-76CCB00B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6E5724D-A688-4BBE-B70C-7EEE3E024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6A94D-95B3-4F54-A58B-22D3C8E7F77A}" type="datetimeFigureOut">
              <a:rPr lang="hu-HU" smtClean="0"/>
              <a:t>2026. 09. 30.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C4FA099-2FC5-471E-BA27-6415BCDC98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39CE42B-6AF7-4F0D-B2A2-2544164F9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5BE0D8-97C4-467E-BA11-2F8D4B82CB6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1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5F86DD0-4792-4158-A0FA-6A08114B8353}"/>
              </a:ext>
            </a:extLst>
          </p:cNvPr>
          <p:cNvSpPr/>
          <p:nvPr/>
        </p:nvSpPr>
        <p:spPr>
          <a:xfrm>
            <a:off x="-1611086" y="-943429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D7DC6E-C42A-401D-AE03-0723CC87C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rgbClr val="FB0D2F"/>
          </a:solidFill>
        </p:spPr>
        <p:txBody>
          <a:bodyPr/>
          <a:lstStyle/>
          <a:p>
            <a:r>
              <a:rPr lang="hu-HU" b="1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Kamrapp</a:t>
            </a:r>
            <a:endParaRPr lang="hu-HU" b="1" dirty="0">
              <a:solidFill>
                <a:schemeClr val="accent4">
                  <a:lumMod val="20000"/>
                  <a:lumOff val="8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C94C244-0E62-4F86-BEFF-53E67166A5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Háztartási készletnyilvántartó és utánpótlás-kezelő alkalmazás</a:t>
            </a:r>
          </a:p>
          <a:p>
            <a:r>
              <a:rPr lang="hu-HU" sz="2000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Kósa Patrik – Frontend (HTML, CSS), dokumentáció</a:t>
            </a:r>
          </a:p>
          <a:p>
            <a:r>
              <a:rPr lang="hu-HU" sz="2000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Száz Bence – Backend (JavaScript, SQL)</a:t>
            </a:r>
          </a:p>
          <a:p>
            <a:r>
              <a:rPr lang="hu-HU" sz="2000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Őri Milán – Backend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23166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A7737DEF-53DD-49A1-B8B5-64BCDD4AE423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57F3729-B2AE-414A-8142-32FFCA8BA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A projekt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636D72-70A2-4667-9916-250BE2D4A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Fő koncepció: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Az otthoni készletkezelés egyszerűsítése </a:t>
            </a:r>
            <a:r>
              <a:rPr lang="hu-HU" b="0" u="none" strike="noStrike" dirty="0" err="1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automatizáció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segítségével.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Fő célkitűzések: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Saját fiókok: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Minden felhasználó egyedi, saját otthoni leltárt kezel.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Folyamatos nyomon követés: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 vásárlások és fogyasztások rögzítésével a készlet azonnal frissül.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Pazarlás csökkentése: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 rendszer az aktuális dátumhoz viszonyítva figyeli a termékek lejárati idejét.</a:t>
            </a:r>
          </a:p>
        </p:txBody>
      </p:sp>
    </p:spTree>
    <p:extLst>
      <p:ext uri="{BB962C8B-B14F-4D97-AF65-F5344CB8AC3E}">
        <p14:creationId xmlns:p14="http://schemas.microsoft.com/office/powerpoint/2010/main" val="31491377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églalap 11">
            <a:extLst>
              <a:ext uri="{FF2B5EF4-FFF2-40B4-BE49-F238E27FC236}">
                <a16:creationId xmlns:a16="http://schemas.microsoft.com/office/drawing/2014/main" id="{A9A63813-21A4-469B-BA11-159885C099A4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3A3E09B-B4AD-4A75-B32E-EE77A247F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Fő 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6BAF9B-C436-4E9B-88E4-C6A276BE9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8195"/>
            <a:ext cx="3048000" cy="4351338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Készletkezelés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Új vásárlások egyszerű rögzítése.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Termékek kiválasztása listából vagy manuális kereséssel.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Mennyiségek és lejárati dátumok megadása.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6338C4FD-B6E5-4734-92A9-B9174EC3B264}"/>
              </a:ext>
            </a:extLst>
          </p:cNvPr>
          <p:cNvSpPr txBox="1">
            <a:spLocks/>
          </p:cNvSpPr>
          <p:nvPr/>
        </p:nvSpPr>
        <p:spPr>
          <a:xfrm>
            <a:off x="3886200" y="1895020"/>
            <a:ext cx="304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Termékek felhasználása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Elhasznált mennyiségek gyors naplózása.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 rendszer automatikusan csökkenti az otthoni készletet.</a:t>
            </a:r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4B5D8450-DB7A-40E2-BCB5-06497E3832BD}"/>
              </a:ext>
            </a:extLst>
          </p:cNvPr>
          <p:cNvSpPr txBox="1">
            <a:spLocks/>
          </p:cNvSpPr>
          <p:nvPr/>
        </p:nvSpPr>
        <p:spPr>
          <a:xfrm>
            <a:off x="6934200" y="1895020"/>
            <a:ext cx="304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Lejárat figyelése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Automatikus összehasonlítás az aktuális dátummal.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Állapotok: fogyasztható, hamarosan lejár, lejárt.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Nem igényel manuális frissítést.</a:t>
            </a:r>
          </a:p>
        </p:txBody>
      </p:sp>
    </p:spTree>
    <p:extLst>
      <p:ext uri="{BB962C8B-B14F-4D97-AF65-F5344CB8AC3E}">
        <p14:creationId xmlns:p14="http://schemas.microsoft.com/office/powerpoint/2010/main" val="2951184324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églalap 20">
            <a:extLst>
              <a:ext uri="{FF2B5EF4-FFF2-40B4-BE49-F238E27FC236}">
                <a16:creationId xmlns:a16="http://schemas.microsoft.com/office/drawing/2014/main" id="{004D8106-43EE-4A96-8B69-0FFCEDE03921}"/>
              </a:ext>
            </a:extLst>
          </p:cNvPr>
          <p:cNvSpPr/>
          <p:nvPr/>
        </p:nvSpPr>
        <p:spPr>
          <a:xfrm>
            <a:off x="838200" y="2868295"/>
            <a:ext cx="8127999" cy="1483360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Téglalap 21">
            <a:extLst>
              <a:ext uri="{FF2B5EF4-FFF2-40B4-BE49-F238E27FC236}">
                <a16:creationId xmlns:a16="http://schemas.microsoft.com/office/drawing/2014/main" id="{E714E37C-2D79-4296-B22E-ACA73ED5DF0C}"/>
              </a:ext>
            </a:extLst>
          </p:cNvPr>
          <p:cNvSpPr/>
          <p:nvPr/>
        </p:nvSpPr>
        <p:spPr>
          <a:xfrm>
            <a:off x="838200" y="3236686"/>
            <a:ext cx="8127999" cy="1114969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rgbClr val="FF5050"/>
              </a:solidFill>
            </a:endParaRPr>
          </a:p>
        </p:txBody>
      </p:sp>
      <p:sp>
        <p:nvSpPr>
          <p:cNvPr id="20" name="Téglalap 19">
            <a:extLst>
              <a:ext uri="{FF2B5EF4-FFF2-40B4-BE49-F238E27FC236}">
                <a16:creationId xmlns:a16="http://schemas.microsoft.com/office/drawing/2014/main" id="{BE87AF88-E4CA-43C6-9051-CE1CE5AFD5C8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431B276-DBD4-4D42-B280-CC26BF27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Mértékegységek és adatkezelés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59EEEDB-8E6F-44D2-A64F-316E19504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92175"/>
          </a:xfrm>
        </p:spPr>
        <p:txBody>
          <a:bodyPr/>
          <a:lstStyle/>
          <a:p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 koncepció: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 Egységesített tárolás az adatbázisban </a:t>
            </a:r>
            <a:r>
              <a:rPr lang="hu-HU" dirty="0" err="1">
                <a:solidFill>
                  <a:srgbClr val="AA0000"/>
                </a:solidFill>
                <a:latin typeface="Bahnschrift" panose="020B0502040204020203" pitchFamily="34" charset="0"/>
              </a:rPr>
              <a:t>vs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. könnyen olvasható megjelenítés a felületen.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41D2E887-D1C7-4FA8-8C34-24E95277EC71}"/>
              </a:ext>
            </a:extLst>
          </p:cNvPr>
          <p:cNvSpPr txBox="1">
            <a:spLocks/>
          </p:cNvSpPr>
          <p:nvPr/>
        </p:nvSpPr>
        <p:spPr>
          <a:xfrm>
            <a:off x="838200" y="2717800"/>
            <a:ext cx="10515600" cy="89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dirty="0"/>
          </a:p>
        </p:txBody>
      </p:sp>
      <p:graphicFrame>
        <p:nvGraphicFramePr>
          <p:cNvPr id="5" name="Táblázat 5">
            <a:extLst>
              <a:ext uri="{FF2B5EF4-FFF2-40B4-BE49-F238E27FC236}">
                <a16:creationId xmlns:a16="http://schemas.microsoft.com/office/drawing/2014/main" id="{3A7C678F-4410-4805-A480-47299B9D5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808619"/>
              </p:ext>
            </p:extLst>
          </p:nvPr>
        </p:nvGraphicFramePr>
        <p:xfrm>
          <a:off x="838200" y="2868295"/>
          <a:ext cx="8127999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06163514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91949461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0511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Típus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Adatbázisban tárolt egység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Megjelenítés a felületen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914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Tömeg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Gramm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g, dkg vagy kg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150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Térfogat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Deciliter (dl)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dl vagy 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54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Darabszám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Darab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Bahnschrift Condensed" panose="020B0502040204020203" pitchFamily="34" charset="0"/>
                        </a:rPr>
                        <a:t>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797243"/>
                  </a:ext>
                </a:extLst>
              </a:tr>
            </a:tbl>
          </a:graphicData>
        </a:graphic>
      </p:graphicFrame>
      <p:sp>
        <p:nvSpPr>
          <p:cNvPr id="17" name="Tartalom helye 2">
            <a:extLst>
              <a:ext uri="{FF2B5EF4-FFF2-40B4-BE49-F238E27FC236}">
                <a16:creationId xmlns:a16="http://schemas.microsoft.com/office/drawing/2014/main" id="{6AC0AD83-7E7F-4260-BD18-1FC657F0AB25}"/>
              </a:ext>
            </a:extLst>
          </p:cNvPr>
          <p:cNvSpPr txBox="1">
            <a:spLocks/>
          </p:cNvSpPr>
          <p:nvPr/>
        </p:nvSpPr>
        <p:spPr>
          <a:xfrm>
            <a:off x="838200" y="4611159"/>
            <a:ext cx="10515600" cy="8921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hu-HU" sz="2000" b="1" dirty="0">
                <a:solidFill>
                  <a:srgbClr val="AA0000"/>
                </a:solidFill>
                <a:latin typeface="Bahnschrift" panose="020B0502040204020203" pitchFamily="34" charset="0"/>
              </a:rPr>
              <a:t>•</a:t>
            </a:r>
            <a:r>
              <a:rPr lang="hu-HU" sz="2000" b="1" dirty="0">
                <a:latin typeface="Google Sans"/>
              </a:rPr>
              <a:t> </a:t>
            </a:r>
            <a:r>
              <a:rPr lang="hu-HU" sz="2000" b="1" dirty="0">
                <a:solidFill>
                  <a:srgbClr val="AA0000"/>
                </a:solidFill>
                <a:latin typeface="Bahnschrift" panose="020B0502040204020203" pitchFamily="34" charset="0"/>
              </a:rPr>
              <a:t>Gyakorlati példák: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hu-HU" sz="2000" b="1" dirty="0">
                <a:solidFill>
                  <a:srgbClr val="AA0000"/>
                </a:solidFill>
                <a:latin typeface="Bahnschrift" panose="020B0502040204020203" pitchFamily="34" charset="0"/>
              </a:rPr>
              <a:t>	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• </a:t>
            </a:r>
            <a:r>
              <a:rPr lang="hu-HU" sz="2000" b="1" i="1" dirty="0">
                <a:solidFill>
                  <a:srgbClr val="AA0000"/>
                </a:solidFill>
                <a:latin typeface="Bahnschrift" panose="020B0502040204020203" pitchFamily="34" charset="0"/>
              </a:rPr>
              <a:t>5000 g 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az adatbázisban → </a:t>
            </a:r>
            <a:r>
              <a:rPr lang="hu-HU" sz="2000" b="1" i="1" dirty="0">
                <a:solidFill>
                  <a:srgbClr val="AA0000"/>
                </a:solidFill>
                <a:latin typeface="Bahnschrift" panose="020B0502040204020203" pitchFamily="34" charset="0"/>
              </a:rPr>
              <a:t>5 kg 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a felületen.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	• </a:t>
            </a:r>
            <a:r>
              <a:rPr lang="hu-HU" sz="2000" b="1" i="1" dirty="0">
                <a:solidFill>
                  <a:srgbClr val="AA0000"/>
                </a:solidFill>
                <a:latin typeface="Bahnschrift" panose="020B0502040204020203" pitchFamily="34" charset="0"/>
              </a:rPr>
              <a:t>15 dl 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az adatbázisban → </a:t>
            </a:r>
            <a:r>
              <a:rPr lang="hu-HU" sz="2000" b="1" i="1" dirty="0">
                <a:solidFill>
                  <a:srgbClr val="AA0000"/>
                </a:solidFill>
                <a:latin typeface="Bahnschrift" panose="020B0502040204020203" pitchFamily="34" charset="0"/>
              </a:rPr>
              <a:t>1.5 l 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a felületen.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	• </a:t>
            </a:r>
            <a:r>
              <a:rPr lang="hu-HU" sz="2000" b="1" dirty="0">
                <a:solidFill>
                  <a:srgbClr val="AA0000"/>
                </a:solidFill>
                <a:latin typeface="Bahnschrift" panose="020B0502040204020203" pitchFamily="34" charset="0"/>
              </a:rPr>
              <a:t>Előny</a:t>
            </a:r>
            <a:r>
              <a:rPr lang="hu-HU" sz="2000" dirty="0">
                <a:solidFill>
                  <a:srgbClr val="AA0000"/>
                </a:solidFill>
                <a:latin typeface="Bahnschrift" panose="020B0502040204020203" pitchFamily="34" charset="0"/>
              </a:rPr>
              <a:t>: Egyszerűbb matematikai műveletek a háttérben, logikus kijelzés a felhasználónak.</a:t>
            </a:r>
          </a:p>
        </p:txBody>
      </p:sp>
    </p:spTree>
    <p:extLst>
      <p:ext uri="{BB962C8B-B14F-4D97-AF65-F5344CB8AC3E}">
        <p14:creationId xmlns:p14="http://schemas.microsoft.com/office/powerpoint/2010/main" val="212439931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A703111C-31CD-4EF2-8CE6-578862730E38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33B80A-48DC-458C-ACC5-79CD7798F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Adatbázis-architektúra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543E49A-7BCC-4E02-9BE3-5CA1EA177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256" y="-1782673600"/>
            <a:ext cx="14648543" cy="1707083195"/>
          </a:xfrm>
        </p:spPr>
        <p:txBody>
          <a:bodyPr/>
          <a:lstStyle/>
          <a:p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D1831FD-17A6-48BC-B673-2641862A4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0514" y="1825625"/>
            <a:ext cx="9622518" cy="50084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03136" rIns="0" bIns="203136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b="1" dirty="0">
                <a:solidFill>
                  <a:srgbClr val="AA0000"/>
                </a:solidFill>
                <a:latin typeface="Bahnschrift" panose="020B0502040204020203" pitchFamily="34" charset="0"/>
              </a:rPr>
              <a:t>1. Otthoni leltár adatbázis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A felhasználó aktuális otthoni termékeit tárolja.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Név, mennyiség, mértékegység és lejárati dátum szerint.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hu-HU" altLang="hu-HU" sz="2400" dirty="0">
              <a:solidFill>
                <a:srgbClr val="AA0000"/>
              </a:solidFill>
              <a:latin typeface="Bahnschrift" panose="020B0502040204020203" pitchFamily="34" charset="0"/>
            </a:endParaRPr>
          </a:p>
          <a:p>
            <a:pPr marL="171450" marR="0" lvl="0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b="1" dirty="0">
                <a:solidFill>
                  <a:srgbClr val="AA0000"/>
                </a:solidFill>
                <a:latin typeface="Bahnschrift" panose="020B0502040204020203" pitchFamily="34" charset="0"/>
              </a:rPr>
              <a:t>2. Bolti termékadatbázis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A boltban elérhető termékek teljes katalógusa.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Innen választhat a felhasználó új termékeket.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Feltételezett állandó készlet (mennyiséget itt nem mérünk).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hu-HU" altLang="hu-HU" sz="2400" dirty="0">
              <a:solidFill>
                <a:srgbClr val="AA0000"/>
              </a:solidFill>
              <a:latin typeface="Bahnschrift" panose="020B0502040204020203" pitchFamily="34" charset="0"/>
            </a:endParaRPr>
          </a:p>
          <a:p>
            <a:pPr marL="171450" marR="0" lvl="0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b="1" dirty="0">
                <a:solidFill>
                  <a:srgbClr val="AA0000"/>
                </a:solidFill>
                <a:latin typeface="Bahnschrift" panose="020B0502040204020203" pitchFamily="34" charset="0"/>
              </a:rPr>
              <a:t>3. Ideiglenes utánpótlási adatbázis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Azon termékek listája, amelyek elérték a kritikus minimum szintet.</a:t>
            </a:r>
          </a:p>
          <a:p>
            <a:pPr marL="628650" marR="0" lvl="1" indent="-17145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hu-HU" altLang="hu-HU" sz="2400" dirty="0">
                <a:solidFill>
                  <a:srgbClr val="AA0000"/>
                </a:solidFill>
                <a:latin typeface="Bahnschrift" panose="020B0502040204020203" pitchFamily="34" charset="0"/>
              </a:rPr>
              <a:t>Ezt az ideiglenes listát kapja meg a futár.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93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4E851260-B538-4502-8294-A0AC8987692A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A38D218-4827-447D-8808-233233168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Alkalmazás működési folyamata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831F6D-C5D0-45BD-B2AE-7F6BCF65B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 lépések sorrendje: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Bejelentkezés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Hozzáférés a saját otthoni készlethez.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Vásárlás rögzítése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Termékek hozzáadása a leltárhoz.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Termék felhasználása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A rendszer csökkenti a készletet.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Szintellenőrzés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Elérte a minimumot? → </a:t>
            </a: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Igen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Átkerül az utánpótlási listára.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Kézbesítés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→ Az ideiglenes lista eljut a futár felhasználóhoz.</a:t>
            </a:r>
          </a:p>
          <a:p>
            <a:pPr marL="457200" lvl="1" indent="0">
              <a:buNone/>
            </a:pPr>
            <a:r>
              <a:rPr lang="hu-HU" b="0" i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Megjegyzés: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 A lejárati dátumok ellenőrzése ezzel párhuzamosan, automatikusan fut a háttérben.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15996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D546709D-BF26-4FDA-9859-59242D1034E6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06BD160-A1B7-4EFF-821E-A19B0CBA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Felhasználói szerepkörök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FA06BDC-C900-49A1-A781-75C19DADD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Vásárló felhasználó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Kezeli és megtekinti a saját otthoni készletét.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Rögzíti a vásárlásokat és a fogyasztást.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Nyomon követi a lejárati dátumokat.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Beállítja az utánpótlási határértékeket.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Futár felhasználó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Hozzáfér az ideiglenes utánpótlási adatbázishoz.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Látja, miből és mekkora mennyiségre van szükség.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A lista alapján állítja össze és teljesíti a szállítást.</a:t>
            </a:r>
          </a:p>
        </p:txBody>
      </p:sp>
    </p:spTree>
    <p:extLst>
      <p:ext uri="{BB962C8B-B14F-4D97-AF65-F5344CB8AC3E}">
        <p14:creationId xmlns:p14="http://schemas.microsoft.com/office/powerpoint/2010/main" val="3863609004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9BE54F0-4152-4BA4-9C77-2A05D4B76E1F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A31E19-1FDE-4F18-B17A-94C7CE1C4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Alkalmazott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4C8A13-D7E6-4952-910D-C49D3858B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Frontend fejlesztés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HTML: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Az alkalmazás szerkezeti felépítése.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CSS: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Letisztult felhasználói felület és reszponzív dizájn.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Backend fejlesztés</a:t>
            </a:r>
            <a:endParaRPr lang="hu-HU" b="0" u="none" strike="noStrike" dirty="0">
              <a:solidFill>
                <a:srgbClr val="AA0000"/>
              </a:solidFill>
              <a:effectLst/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JavaScript: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Alkalmazáslogika, számítások és adatfeldolgozás.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u-HU" b="1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SQL: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</a:t>
            </a:r>
            <a:r>
              <a:rPr lang="hu-HU" b="0" u="none" strike="noStrike" dirty="0" err="1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Relacionális</a:t>
            </a:r>
            <a:r>
              <a:rPr lang="hu-HU" b="0" u="none" strike="noStrike" dirty="0">
                <a:solidFill>
                  <a:srgbClr val="AA0000"/>
                </a:solidFill>
                <a:effectLst/>
                <a:latin typeface="Bahnschrift" panose="020B0502040204020203" pitchFamily="34" charset="0"/>
              </a:rPr>
              <a:t> adatbázis-kezelés a készletadatok biztonságos tárolására.</a:t>
            </a:r>
          </a:p>
        </p:txBody>
      </p:sp>
    </p:spTree>
    <p:extLst>
      <p:ext uri="{BB962C8B-B14F-4D97-AF65-F5344CB8AC3E}">
        <p14:creationId xmlns:p14="http://schemas.microsoft.com/office/powerpoint/2010/main" val="346704522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039BFE68-F722-4929-A473-D37C008D05DB}"/>
              </a:ext>
            </a:extLst>
          </p:cNvPr>
          <p:cNvSpPr/>
          <p:nvPr/>
        </p:nvSpPr>
        <p:spPr>
          <a:xfrm>
            <a:off x="-1778000" y="-2627767"/>
            <a:ext cx="15748000" cy="4453392"/>
          </a:xfrm>
          <a:prstGeom prst="rect">
            <a:avLst/>
          </a:prstGeom>
          <a:solidFill>
            <a:srgbClr val="FB0D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859C5B2-9B6A-4C8D-A8D9-C94FAB5FD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Összefoglalás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7F07C4-7FB9-4165-8FD6-071EA4982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• Főbb tanulságok:</a:t>
            </a:r>
          </a:p>
          <a:p>
            <a:pPr marL="0" indent="0">
              <a:buNone/>
            </a:pP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	• </a:t>
            </a:r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Mindent egy helyen: 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Mennyiségek, lejárati idők és rendelések központi kezelése.</a:t>
            </a:r>
          </a:p>
          <a:p>
            <a:pPr marL="0" indent="0">
              <a:buNone/>
            </a:pP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	• </a:t>
            </a:r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Teljes </a:t>
            </a:r>
            <a:r>
              <a:rPr lang="hu-HU" b="1" dirty="0" err="1">
                <a:solidFill>
                  <a:srgbClr val="AA0000"/>
                </a:solidFill>
                <a:latin typeface="Bahnschrift" panose="020B0502040204020203" pitchFamily="34" charset="0"/>
              </a:rPr>
              <a:t>automatizáció</a:t>
            </a:r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: 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Automatikus készletlevonás, lejárat-figyelés és futárlista-generálás.</a:t>
            </a:r>
          </a:p>
          <a:p>
            <a:pPr marL="0" indent="0">
              <a:buNone/>
            </a:pP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	• </a:t>
            </a:r>
            <a:r>
              <a:rPr lang="hu-HU" b="1" dirty="0">
                <a:solidFill>
                  <a:srgbClr val="AA0000"/>
                </a:solidFill>
                <a:latin typeface="Bahnschrift" panose="020B0502040204020203" pitchFamily="34" charset="0"/>
              </a:rPr>
              <a:t>A végső cél: </a:t>
            </a:r>
            <a:r>
              <a:rPr lang="hu-HU" dirty="0">
                <a:solidFill>
                  <a:srgbClr val="AA0000"/>
                </a:solidFill>
                <a:latin typeface="Bahnschrift" panose="020B0502040204020203" pitchFamily="34" charset="0"/>
              </a:rPr>
              <a:t>A manuális háztartási adminisztráció minimálisra csökkentése és az élelmiszerpazarlás visszaszorítása.</a:t>
            </a:r>
          </a:p>
        </p:txBody>
      </p:sp>
    </p:spTree>
    <p:extLst>
      <p:ext uri="{BB962C8B-B14F-4D97-AF65-F5344CB8AC3E}">
        <p14:creationId xmlns:p14="http://schemas.microsoft.com/office/powerpoint/2010/main" val="2643435060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Words>526</Words>
  <Application>Microsoft Office PowerPoint</Application>
  <PresentationFormat>Szélesvásznú</PresentationFormat>
  <Paragraphs>84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7" baseType="lpstr">
      <vt:lpstr>Arial</vt:lpstr>
      <vt:lpstr>Bahnschrift</vt:lpstr>
      <vt:lpstr>Bahnschrift Condensed</vt:lpstr>
      <vt:lpstr>Bahnschrift SemiBold</vt:lpstr>
      <vt:lpstr>Calibri</vt:lpstr>
      <vt:lpstr>Calibri Light</vt:lpstr>
      <vt:lpstr>Google Sans</vt:lpstr>
      <vt:lpstr>Office-téma</vt:lpstr>
      <vt:lpstr>Kamrapp</vt:lpstr>
      <vt:lpstr>A projekt célja</vt:lpstr>
      <vt:lpstr>Fő funkciók</vt:lpstr>
      <vt:lpstr>Mértékegységek és adatkezelés</vt:lpstr>
      <vt:lpstr>Adatbázis-architektúra</vt:lpstr>
      <vt:lpstr>Alkalmazás működési folyamata</vt:lpstr>
      <vt:lpstr>Felhasználói szerepkörök</vt:lpstr>
      <vt:lpstr>Alkalmazott technológiák</vt:lpstr>
      <vt:lpstr>Összefoglalás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Kamrapp</dc:title>
  <dc:creator>Kósa Patrik</dc:creator>
  <cp:lastModifiedBy>Kósa Patrik</cp:lastModifiedBy>
  <cp:revision>7</cp:revision>
  <dcterms:created xsi:type="dcterms:W3CDTF">2026-09-30T12:06:34Z</dcterms:created>
  <dcterms:modified xsi:type="dcterms:W3CDTF">2026-09-30T12:49:51Z</dcterms:modified>
</cp:coreProperties>
</file>